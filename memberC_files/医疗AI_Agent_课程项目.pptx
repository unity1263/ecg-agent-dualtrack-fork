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🏥 医疗 AI Agent 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DFF"/>
                </a:solidFill>
              </a:defRPr>
            </a:pPr>
            <a:r>
              <a:t>心电图解读 &amp; 心血管临床决策支持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</a:defRPr>
            </a:pPr>
            <a:r>
              <a:t>AI Agent 课程大作业  |  Member A · Member B · Member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</a:defRPr>
            </a:pPr>
            <a:r>
              <a:t>📋 项目背景与目标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</a:defRPr>
            </a:pPr>
            <a:r>
              <a:t>构建面向心电图解读与心血管临床决策支持的医疗 AI Agent，对比两条技术路线：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solidFill>
            <a:srgbClr val="E8F4FD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2E86C1"/>
                </a:solidFill>
              </a:defRPr>
            </a:pPr>
            <a:r>
              <a:t>🔍 RAG 路线 — 检索增强生成</a:t>
            </a:r>
          </a:p>
          <a:p>
            <a:pPr algn="l">
              <a:defRPr sz="1600" b="0">
                <a:solidFill>
                  <a:srgbClr val="2C3E50"/>
                </a:solidFill>
              </a:defRPr>
            </a:pPr>
          </a:p>
          <a:p>
            <a:pPr algn="l">
              <a:defRPr sz="1600" b="0">
                <a:solidFill>
                  <a:srgbClr val="2C3E50"/>
                </a:solidFill>
              </a:defRPr>
            </a:pPr>
            <a:r>
              <a:t>• FAISS 向量语义检索</a:t>
            </a:r>
          </a:p>
          <a:p>
            <a:pPr algn="l">
              <a:defRPr sz="1600" b="0">
                <a:solidFill>
                  <a:srgbClr val="2C3E50"/>
                </a:solidFill>
              </a:defRPr>
            </a:pPr>
            <a:r>
              <a:t>• 78,136 条医疗 QA 语料</a:t>
            </a:r>
          </a:p>
          <a:p>
            <a:pPr algn="l">
              <a:defRPr sz="1600" b="0">
                <a:solidFill>
                  <a:srgbClr val="2C3E50"/>
                </a:solidFill>
              </a:defRPr>
            </a:pPr>
            <a:r>
              <a:t>• 运行时获取外部知识</a:t>
            </a:r>
          </a:p>
          <a:p>
            <a:pPr algn="l">
              <a:defRPr sz="1600" b="0">
                <a:solidFill>
                  <a:srgbClr val="2C3E50"/>
                </a:solidFill>
              </a:defRPr>
            </a:pPr>
            <a:r>
              <a:t>• 模型 + 知识库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286000"/>
            <a:ext cx="5029200" cy="3200400"/>
          </a:xfrm>
          <a:prstGeom prst="rect">
            <a:avLst/>
          </a:prstGeom>
          <a:solidFill>
            <a:srgbClr val="E8F8F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27AE60"/>
                </a:solidFill>
              </a:defRPr>
            </a:pPr>
            <a:r>
              <a:t>🧠 SFT 路线 — 监督微调</a:t>
            </a:r>
          </a:p>
          <a:p>
            <a:pPr algn="l">
              <a:defRPr sz="1600" b="0">
                <a:solidFill>
                  <a:srgbClr val="2C3E50"/>
                </a:solidFill>
              </a:defRPr>
            </a:pPr>
          </a:p>
          <a:p>
            <a:pPr algn="l">
              <a:defRPr sz="1600" b="0">
                <a:solidFill>
                  <a:srgbClr val="2C3E50"/>
                </a:solidFill>
              </a:defRPr>
            </a:pPr>
            <a:r>
              <a:t>• DeepSeek-R1-Distill-Qwen-1.5B</a:t>
            </a:r>
          </a:p>
          <a:p>
            <a:pPr algn="l">
              <a:defRPr sz="1600" b="0">
                <a:solidFill>
                  <a:srgbClr val="2C3E50"/>
                </a:solidFill>
              </a:defRPr>
            </a:pPr>
            <a:r>
              <a:t>• 10,000 条医疗 QA 训练</a:t>
            </a:r>
          </a:p>
          <a:p>
            <a:pPr algn="l">
              <a:defRPr sz="1600" b="0">
                <a:solidFill>
                  <a:srgbClr val="2C3E50"/>
                </a:solidFill>
              </a:defRPr>
            </a:pPr>
            <a:r>
              <a:t>• 4-bit QLoRA 高效微调</a:t>
            </a:r>
          </a:p>
          <a:p>
            <a:pPr algn="l">
              <a:defRPr sz="1600" b="0">
                <a:solidFill>
                  <a:srgbClr val="2C3E50"/>
                </a:solidFill>
              </a:defRPr>
            </a:pPr>
            <a:r>
              <a:t>• 知识内化到模型参数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</a:defRPr>
            </a:pPr>
            <a:r>
              <a:t>🏗 系统架构总览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</a:defRPr>
            </a:pPr>
            <a:r>
              <a:t>四层架构：展示层 → Agent 编排层 → 工具层 → 基础设施层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8229600" cy="1005840"/>
          </a:xfrm>
          <a:prstGeom prst="rect">
            <a:avLst/>
          </a:prstGeom>
          <a:solidFill>
            <a:srgbClr val="FAFAFA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🌐 展示层：Gradio Web UI  ·  CLI 命令行  ·  Matplotlib 可视化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017520"/>
            <a:ext cx="8229600" cy="1005840"/>
          </a:xfrm>
          <a:prstGeom prst="rect">
            <a:avLst/>
          </a:prstGeom>
          <a:solidFill>
            <a:srgbClr val="FAFA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⚙️ Agent 编排层：MedicalAgentRunner 调度器  ·  三管道 Pipeline  ·  RAGAS 评测引擎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4206240"/>
            <a:ext cx="8229600" cy="1005840"/>
          </a:xfrm>
          <a:prstGeom prst="rect">
            <a:avLst/>
          </a:prstGeom>
          <a:solidFill>
            <a:srgbClr val="FAFA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🔧 工具层：MedicalRAGTool 检索工具  ·  MedicalModelTool 推理工具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5394960"/>
            <a:ext cx="8229600" cy="1005840"/>
          </a:xfrm>
          <a:prstGeom prst="rect">
            <a:avLst/>
          </a:prstGeom>
          <a:solidFill>
            <a:srgbClr val="FAFAFA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💾 基础设施层：FAISS IVF-Flat  ·  BAAI/bge-m3  ·  DeepSeek-1.5B + LoRA  ·  78K QA 语料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</a:defRPr>
            </a:pPr>
            <a:r>
              <a:t>🔬 三管道对比设计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34747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🔴 管道 1: Pure RAG</a:t>
            </a:r>
          </a:p>
          <a:p>
            <a:pPr algn="l">
              <a:defRPr sz="800" b="0">
                <a:solidFill>
                  <a:srgbClr val="2C3E50"/>
                </a:solidFill>
              </a:defRPr>
            </a:pPr>
          </a:p>
          <a:p>
            <a:pPr algn="ctr">
              <a:defRPr sz="1500" b="0">
                <a:solidFill>
                  <a:srgbClr val="2C3E50"/>
                </a:solidFill>
              </a:defRPr>
            </a:pPr>
            <a:r>
              <a:t>模型：1.5B base + FAISS 检索</a:t>
            </a:r>
          </a:p>
          <a:p>
            <a:pPr algn="ctr">
              <a:defRPr sz="1500" b="0">
                <a:solidFill>
                  <a:srgbClr val="2C3E50"/>
                </a:solidFill>
              </a:defRPr>
            </a:pPr>
            <a:r>
              <a:t>思路：固定工作流，检索→生成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59" y="2103120"/>
            <a:ext cx="34747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E86C1"/>
                </a:solidFill>
              </a:defRPr>
            </a:pPr>
            <a:r>
              <a:t>🔵 管道 2: Pure SFT</a:t>
            </a:r>
          </a:p>
          <a:p>
            <a:pPr algn="l">
              <a:defRPr sz="800" b="0">
                <a:solidFill>
                  <a:srgbClr val="2C3E50"/>
                </a:solidFill>
              </a:defRPr>
            </a:pPr>
          </a:p>
          <a:p>
            <a:pPr algn="ctr">
              <a:defRPr sz="1500" b="0">
                <a:solidFill>
                  <a:srgbClr val="2C3E50"/>
                </a:solidFill>
              </a:defRPr>
            </a:pPr>
            <a:r>
              <a:t>模型：1.5B QLoRA 微调</a:t>
            </a:r>
          </a:p>
          <a:p>
            <a:pPr algn="ctr">
              <a:defRPr sz="1500" b="0">
                <a:solidFill>
                  <a:srgbClr val="2C3E50"/>
                </a:solidFill>
              </a:defRPr>
            </a:pPr>
            <a:r>
              <a:t>思路：直接推理，知识来自权重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2103120"/>
            <a:ext cx="34747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🟢 管道 3: Hybrid Agent</a:t>
            </a:r>
          </a:p>
          <a:p>
            <a:pPr algn="l">
              <a:defRPr sz="800" b="0">
                <a:solidFill>
                  <a:srgbClr val="2C3E50"/>
                </a:solidFill>
              </a:defRPr>
            </a:pPr>
          </a:p>
          <a:p>
            <a:pPr algn="ctr">
              <a:defRPr sz="1500" b="0">
                <a:solidFill>
                  <a:srgbClr val="2C3E50"/>
                </a:solidFill>
              </a:defRPr>
            </a:pPr>
            <a:r>
              <a:t>模型：1.5B QLoRA + RAG</a:t>
            </a:r>
          </a:p>
          <a:p>
            <a:pPr algn="ctr">
              <a:defRPr sz="1500" b="0">
                <a:solidFill>
                  <a:srgbClr val="2C3E50"/>
                </a:solidFill>
              </a:defRPr>
            </a:pPr>
            <a:r>
              <a:t>思路：CodeAgent 自主编排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</a:defRPr>
            </a:pPr>
            <a:r>
              <a:t>统一调度 + 同一评测标准 = 公平对比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</a:defRPr>
            </a:pPr>
            <a:r>
              <a:t>📦 成员 A — RAG 知识检索库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</a:defRPr>
            </a:pPr>
            <a:r>
              <a:t>数据：78,136 条医疗 QA (6领域)  |  嵌入：BAAI/bge-m3 (1024维)  |  索引：FAISS IVF-Flat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📊 语料来源：6 大心血管数据集：基础心脏病学、ECG诊断、复杂病例、风险评估、临床对话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54680"/>
            <a:ext cx="10058400" cy="914400"/>
          </a:xfrm>
          <a:prstGeom prst="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🧹 数据清洗：去重、格式化、质量筛查 → 78,136 条高质量 QA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10058400" cy="914400"/>
          </a:xfrm>
          <a:prstGeom prst="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🔍 最优检索配置：消融实验：chunk_size=512, overlap=50, top_k=3, F1=0.8628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440680"/>
            <a:ext cx="10058400" cy="914400"/>
          </a:xfrm>
          <a:prstGeom prst="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⚡ 检索性能：78K 文档中语义搜索 &lt; 1 秒 (GPU)，中英文混合检索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</a:defRPr>
            </a:pPr>
            <a:r>
              <a:t>🧪 成员 B — QLoRA 医疗模型微调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</a:defRPr>
            </a:pPr>
            <a:r>
              <a:t>基座：DeepSeek-R1-Distill-Qwen-1.5B  |  方法：4-bit QLoRA (NF4+Double Quant)  |  数据：10K QA (含2K CoT)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029200" cy="3840480"/>
          </a:xfrm>
          <a:prstGeom prst="rect">
            <a:avLst/>
          </a:prstGeom>
          <a:solidFill>
            <a:srgbClr val="E8F4FD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2E86C1"/>
                </a:solidFill>
              </a:defRPr>
            </a:pPr>
            <a:r>
              <a:t>⚙️ 训练配置</a:t>
            </a:r>
          </a:p>
          <a:p>
            <a:pPr algn="l">
              <a:defRPr sz="1500" b="0">
                <a:solidFill>
                  <a:srgbClr val="2C3E50"/>
                </a:solidFill>
              </a:defRPr>
            </a:pPr>
          </a:p>
          <a:p>
            <a:pPr algn="l">
              <a:defRPr sz="1500" b="0">
                <a:solidFill>
                  <a:srgbClr val="2C3E50"/>
                </a:solidFill>
              </a:defRPr>
            </a:pPr>
            <a:r>
              <a:t>• 4-bit NF4 量化 + Double Quant</a:t>
            </a:r>
          </a:p>
          <a:p>
            <a:pPr algn="l">
              <a:defRPr sz="1500" b="0">
                <a:solidFill>
                  <a:srgbClr val="2C3E50"/>
                </a:solidFill>
              </a:defRPr>
            </a:pPr>
            <a:r>
              <a:t>• 训练峰值显存：仅 5.59 GB</a:t>
            </a:r>
          </a:p>
          <a:p>
            <a:pPr algn="l">
              <a:defRPr sz="1500" b="0">
                <a:solidFill>
                  <a:srgbClr val="2C3E50"/>
                </a:solidFill>
              </a:defRPr>
            </a:pPr>
            <a:r>
              <a:t>• 8GB 消费级显卡即可训练</a:t>
            </a:r>
          </a:p>
          <a:p>
            <a:pPr algn="l">
              <a:defRPr sz="1500" b="0">
                <a:solidFill>
                  <a:srgbClr val="2C3E50"/>
                </a:solidFill>
              </a:defRPr>
            </a:pPr>
            <a:r>
              <a:t>• LoRA 权重仅 ~71 MB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011680"/>
            <a:ext cx="5029200" cy="3840480"/>
          </a:xfrm>
          <a:prstGeom prst="rect">
            <a:avLst/>
          </a:prstGeom>
          <a:solidFill>
            <a:srgbClr val="E8F8F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27AE60"/>
                </a:solidFill>
              </a:defRPr>
            </a:pPr>
            <a:r>
              <a:t>✅ 核心优势</a:t>
            </a:r>
          </a:p>
          <a:p>
            <a:pPr algn="l">
              <a:defRPr sz="1500" b="0">
                <a:solidFill>
                  <a:srgbClr val="2C3E50"/>
                </a:solidFill>
              </a:defRPr>
            </a:pPr>
          </a:p>
          <a:p>
            <a:pPr algn="l">
              <a:defRPr sz="1500" b="0">
                <a:solidFill>
                  <a:srgbClr val="2C3E50"/>
                </a:solidFill>
              </a:defRPr>
            </a:pPr>
            <a:r>
              <a:t>• 极低显存需求</a:t>
            </a:r>
          </a:p>
          <a:p>
            <a:pPr algn="l">
              <a:defRPr sz="1500" b="0">
                <a:solidFill>
                  <a:srgbClr val="2C3E50"/>
                </a:solidFill>
              </a:defRPr>
            </a:pPr>
            <a:r>
              <a:t>• 快速推理 (~5s/次)</a:t>
            </a:r>
          </a:p>
          <a:p>
            <a:pPr algn="l">
              <a:defRPr sz="1500" b="0">
                <a:solidFill>
                  <a:srgbClr val="2C3E50"/>
                </a:solidFill>
              </a:defRPr>
            </a:pPr>
            <a:r>
              <a:t>• 医学知识内化参数</a:t>
            </a:r>
          </a:p>
          <a:p>
            <a:pPr algn="l">
              <a:defRPr sz="1500" b="0">
                <a:solidFill>
                  <a:srgbClr val="2C3E50"/>
                </a:solidFill>
              </a:defRPr>
            </a:pPr>
            <a:r>
              <a:t>• 适配消费级硬件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</a:defRPr>
            </a:pPr>
            <a:r>
              <a:t>🤖 成员 C — Agent 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34747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E86C1"/>
                </a:solidFill>
              </a:defRPr>
            </a:pPr>
            <a:r>
              <a:t>🧩 Agent 系统</a:t>
            </a:r>
          </a:p>
          <a:p>
            <a:pPr algn="ctr">
              <a:defRPr sz="1200" b="0">
                <a:solidFill>
                  <a:srgbClr val="7F8C8D"/>
                </a:solidFill>
              </a:defRPr>
            </a:pPr>
            <a:r>
              <a:t>2,770 行 Python</a:t>
            </a:r>
          </a:p>
          <a:p>
            <a:pPr algn="l">
              <a:defRPr sz="1400" b="0">
                <a:solidFill>
                  <a:srgbClr val="2C3E50"/>
                </a:solidFill>
              </a:defRPr>
            </a:pPr>
            <a:r>
              <a:t>  • tools.py: RAG检索+模型推理</a:t>
            </a:r>
          </a:p>
          <a:p>
            <a:pPr algn="l">
              <a:defRPr sz="1400" b="0">
                <a:solidFill>
                  <a:srgbClr val="2C3E50"/>
                </a:solidFill>
              </a:defRPr>
            </a:pPr>
            <a:r>
              <a:t>  • agent_core.py: 三管道+CodeAgent</a:t>
            </a:r>
          </a:p>
          <a:p>
            <a:pPr algn="l">
              <a:defRPr sz="1400" b="0">
                <a:solidFill>
                  <a:srgbClr val="2C3E50"/>
                </a:solidFill>
              </a:defRPr>
            </a:pPr>
            <a:r>
              <a:t>  • build_index.py: FAISS索引构建</a:t>
            </a:r>
          </a:p>
          <a:p>
            <a:pPr algn="l">
              <a:defRPr sz="1400" b="0">
                <a:solidFill>
                  <a:srgbClr val="2C3E50"/>
                </a:solidFill>
              </a:defRPr>
            </a:pPr>
            <a:r>
              <a:t>  • 懒加载 + smolagents 兼容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59" y="2011680"/>
            <a:ext cx="34747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📊 评测框架</a:t>
            </a:r>
          </a:p>
          <a:p>
            <a:pPr algn="ctr">
              <a:defRPr sz="1200" b="0">
                <a:solidFill>
                  <a:srgbClr val="7F8C8D"/>
                </a:solidFill>
              </a:defRPr>
            </a:pPr>
            <a:r>
              <a:t>150条公平测试集</a:t>
            </a:r>
          </a:p>
          <a:p>
            <a:pPr algn="l">
              <a:defRPr sz="1400" b="0">
                <a:solidFill>
                  <a:srgbClr val="2C3E50"/>
                </a:solidFill>
              </a:defRPr>
            </a:pPr>
            <a:r>
              <a:t>  • MD5哈希去重(排除训练集)</a:t>
            </a:r>
          </a:p>
          <a:p>
            <a:pPr algn="l">
              <a:defRPr sz="1400" b="0">
                <a:solidFill>
                  <a:srgbClr val="2C3E50"/>
                </a:solidFill>
              </a:defRPr>
            </a:pPr>
            <a:r>
              <a:t>  • 5领域分层抽样 seed=42</a:t>
            </a:r>
          </a:p>
          <a:p>
            <a:pPr algn="l">
              <a:defRPr sz="1400" b="0">
                <a:solidFill>
                  <a:srgbClr val="2C3E50"/>
                </a:solidFill>
              </a:defRPr>
            </a:pPr>
            <a:r>
              <a:t>  • RAGAS: Faithfulness+Relevancy</a:t>
            </a:r>
          </a:p>
          <a:p>
            <a:pPr algn="l">
              <a:defRPr sz="1400" b="0">
                <a:solidFill>
                  <a:srgbClr val="2C3E50"/>
                </a:solidFill>
              </a:defRPr>
            </a:pPr>
            <a:r>
              <a:t>  • 4种可视化图表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2011680"/>
            <a:ext cx="34747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67E22"/>
                </a:solidFill>
              </a:defRPr>
            </a:pPr>
            <a:r>
              <a:t>🌐 Web Demo</a:t>
            </a:r>
          </a:p>
          <a:p>
            <a:pPr algn="ctr">
              <a:defRPr sz="1200" b="0">
                <a:solidFill>
                  <a:srgbClr val="7F8C8D"/>
                </a:solidFill>
              </a:defRPr>
            </a:pPr>
            <a:r>
              <a:t>Gradio 中文界面</a:t>
            </a:r>
          </a:p>
          <a:p>
            <a:pPr algn="l">
              <a:defRPr sz="1400" b="0">
                <a:solidFill>
                  <a:srgbClr val="2C3E50"/>
                </a:solidFill>
              </a:defRPr>
            </a:pPr>
            <a:r>
              <a:t>  • GPU 真机推理 RTX 3060</a:t>
            </a:r>
          </a:p>
          <a:p>
            <a:pPr algn="l">
              <a:defRPr sz="1400" b="0">
                <a:solidFill>
                  <a:srgbClr val="2C3E50"/>
                </a:solidFill>
              </a:defRPr>
            </a:pPr>
            <a:r>
              <a:t>  • 3 种模式实时切换</a:t>
            </a:r>
          </a:p>
          <a:p>
            <a:pPr algn="l">
              <a:defRPr sz="1400" b="0">
                <a:solidFill>
                  <a:srgbClr val="2C3E50"/>
                </a:solidFill>
              </a:defRPr>
            </a:pPr>
            <a:r>
              <a:t>  • 评测数据内嵌展示</a:t>
            </a:r>
          </a:p>
          <a:p>
            <a:pPr algn="l">
              <a:defRPr sz="1400" b="0">
                <a:solidFill>
                  <a:srgbClr val="2C3E50"/>
                </a:solidFill>
              </a:defRPr>
            </a:pPr>
            <a:r>
              <a:t>  • 预设示例问题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276"/>
                </a:solidFill>
              </a:defRPr>
            </a:pPr>
            <a:r>
              <a:t>📊 评测方法论 — 如何评估 Agent 效果？ ★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solidFill>
            <a:srgbClr val="FAFAFA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2E86C1"/>
                </a:solidFill>
              </a:defRPr>
            </a:pPr>
            <a:r>
              <a:t>1️⃣ 测试集准备</a:t>
            </a:r>
          </a:p>
          <a:p>
            <a:pPr algn="l">
              <a:defRPr sz="1400" b="0">
                <a:solidFill>
                  <a:srgbClr val="2C3E50"/>
                </a:solidFill>
              </a:defRPr>
            </a:pPr>
            <a:r>
              <a:t>78K 语料 → MD5哈希排除SFT训练集 → 5领域分层抽样 → 150条公平测试题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651760"/>
            <a:ext cx="10058400" cy="1097280"/>
          </a:xfrm>
          <a:prstGeom prst="rect">
            <a:avLst/>
          </a:prstGeom>
          <a:solidFill>
            <a:srgbClr val="FAFA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27AE60"/>
                </a:solidFill>
              </a:defRPr>
            </a:pPr>
            <a:r>
              <a:t>2️⃣ RAGAS 双指标</a:t>
            </a:r>
          </a:p>
          <a:p>
            <a:pPr algn="l">
              <a:defRPr sz="1400" b="0">
                <a:solidFill>
                  <a:srgbClr val="2C3E50"/>
                </a:solidFill>
              </a:defRPr>
            </a:pPr>
            <a:r>
              <a:t>Faithfulness（忠实度）：答案能否从上下文推断？防止编造</a:t>
            </a:r>
            <a:br/>
            <a:r>
              <a:t>Answer Relevancy（相关性）：答案是否切题？防止跑题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931920"/>
            <a:ext cx="10058400" cy="1097280"/>
          </a:xfrm>
          <a:prstGeom prst="rect">
            <a:avLst/>
          </a:prstGeom>
          <a:solidFill>
            <a:srgbClr val="FAFA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E67E22"/>
                </a:solidFill>
              </a:defRPr>
            </a:pPr>
            <a:r>
              <a:t>3️⃣ 三管道评测</a:t>
            </a:r>
          </a:p>
          <a:p>
            <a:pPr algn="l">
              <a:defRPr sz="1400" b="0">
                <a:solidFill>
                  <a:srgbClr val="2C3E50"/>
                </a:solidFill>
              </a:defRPr>
            </a:pPr>
            <a:r>
              <a:t>同一问题 → 三管道并行推理 → 统一RAGAS打分 → 记录耗时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212079"/>
            <a:ext cx="10058400" cy="1097280"/>
          </a:xfrm>
          <a:prstGeom prst="rect">
            <a:avLst/>
          </a:prstGeom>
          <a:solidFill>
            <a:srgbClr val="FAFAFA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8E44AD"/>
                </a:solidFill>
              </a:defRPr>
            </a:pPr>
            <a:r>
              <a:t>4️⃣ 可视化分析</a:t>
            </a:r>
          </a:p>
          <a:p>
            <a:pPr algn="l">
              <a:defRPr sz="1400" b="0">
                <a:solidFill>
                  <a:srgbClr val="2C3E50"/>
                </a:solidFill>
              </a:defRPr>
            </a:pPr>
            <a:r>
              <a:t>柱状图对比 · 雷达图 · 各领域细分 · 时间质量散点图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</a:defRPr>
            </a:pPr>
            <a:r>
              <a:t>📊 评测结果对比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</a:defRPr>
            </a:pPr>
            <a:r>
              <a:t>RAGAS 双轨评测 — Faithfulness (忠实度) &amp; Answer Relevancy (答案相关性)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276"/>
                </a:solidFill>
              </a:defRPr>
            </a:pPr>
            <a:r>
              <a:t>管道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276"/>
                </a:solidFill>
              </a:defRPr>
            </a:pPr>
            <a:r>
              <a:t>Faithfulness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276"/>
                </a:solidFill>
              </a:defRPr>
            </a:pPr>
            <a:r>
              <a:t>Answer Relevancy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276"/>
                </a:solidFill>
              </a:defRPr>
            </a:pPr>
            <a:r>
              <a:t>速度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solidFill>
            <a:srgbClr val="FDEEEF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C3E50"/>
                </a:solidFill>
              </a:defRPr>
            </a:pPr>
            <a:r>
              <a:t>🔴 Pure RAG (1.5B+检索)         Faithfulness: 0.5954         Answer Relevancy: 0.8744         速度: 中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10972800" cy="914400"/>
          </a:xfrm>
          <a:prstGeom prst="rect">
            <a:avLst/>
          </a:prstGeom>
          <a:solidFill>
            <a:srgbClr val="E8F8F0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C3E50"/>
                </a:solidFill>
              </a:defRPr>
            </a:pPr>
            <a:r>
              <a:t>🔵 Pure SFT (微调1.5B)         Faithfulness: 0.8673         Answer Relevancy: 0.8602         速度: 快 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120640"/>
            <a:ext cx="10972800" cy="914400"/>
          </a:xfrm>
          <a:prstGeom prst="rect">
            <a:avLst/>
          </a:prstGeom>
          <a:solidFill>
            <a:srgbClr val="FDF2E9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C3E50"/>
                </a:solidFill>
              </a:defRPr>
            </a:pPr>
            <a:r>
              <a:t>🟢 Hybrid (1.5B+RAG)         Faithfulness: 0.6179         Answer Relevancy: 0.8364         速度: 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7AE60"/>
                </a:solidFill>
              </a:defRPr>
            </a:pPr>
            <a:r>
              <a:t>✨ 关键结论：QLoRA 微调 Faithfulness 最优 (0.87)，+45.6% vs Pure RAG。知识内化 &gt; 检索。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🌐 Web Demo 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DDFF"/>
                </a:solidFill>
              </a:defRPr>
            </a:pPr>
            <a:r>
              <a:t>中文界面  |  GPU 真机推理  |  Gradio 框架  |  RTX 3060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🖥  简洁中文 Web UI，输入医学问题即可获取 AI 回答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1187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🚀  实时 GPU 推理，DeepSeek-1.5B + LoRA 生成诊断建议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📚  FAISS 检索 78K 医疗文献，为回答提供循证依据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00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🔄  三模式自由切换：混合智能体 / 纯 SFT / 纯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94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📊  评测数据内嵌展示：RAGAS 指标表 + 测试集分布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</a:defRPr>
            </a:pPr>
            <a:r>
              <a:t>💡 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solidFill>
            <a:srgbClr val="FAFAFA"/>
          </a:solidFill>
          <a:ln w="254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1A5276"/>
                </a:solidFill>
              </a:defRPr>
            </a:pPr>
            <a:r>
              <a:t>1. 小模型微调 &gt; 大模型检索</a:t>
            </a:r>
          </a:p>
          <a:p>
            <a:pPr algn="l">
              <a:defRPr sz="1500" b="0">
                <a:solidFill>
                  <a:srgbClr val="2C3E50"/>
                </a:solidFill>
              </a:defRPr>
            </a:pPr>
            <a:r>
              <a:t>QLoRA 微调 1.5B 在 Faithfulness (0.867) 上完胜 RAG (0.595)。知识"内化"比"检索"更可靠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solidFill>
            <a:srgbClr val="FAFAFA"/>
          </a:solidFill>
          <a:ln w="254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1A5276"/>
                </a:solidFill>
              </a:defRPr>
            </a:pPr>
            <a:r>
              <a:t>2. QLoRA 极低显存训练</a:t>
            </a:r>
          </a:p>
          <a:p>
            <a:pPr algn="l">
              <a:defRPr sz="1500" b="0">
                <a:solidFill>
                  <a:srgbClr val="2C3E50"/>
                </a:solidFill>
              </a:defRPr>
            </a:pPr>
            <a:r>
              <a:t>1.5B 模型仅需 5.6GB 显存，8GB 消费级显卡即可完成医疗领域微调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0058400" cy="1097280"/>
          </a:xfrm>
          <a:prstGeom prst="rect">
            <a:avLst/>
          </a:prstGeom>
          <a:solidFill>
            <a:srgbClr val="FAFAFA"/>
          </a:solidFill>
          <a:ln w="254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1A5276"/>
                </a:solidFill>
              </a:defRPr>
            </a:pPr>
            <a:r>
              <a:t>3. 评测方法论可复用</a:t>
            </a:r>
          </a:p>
          <a:p>
            <a:pPr algn="l">
              <a:defRPr sz="1500" b="0">
                <a:solidFill>
                  <a:srgbClr val="2C3E50"/>
                </a:solidFill>
              </a:defRPr>
            </a:pPr>
            <a:r>
              <a:t>去重→分层抽样→三管道→RAGAS→可视化。适用于任何垂直领域 AI Agent 评测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</a:defRPr>
            </a:pPr>
            <a:r>
              <a:t>未来：🔬 CoT微调  |  🧩 多模态(ECG图像+文本)  |  🏥 真实临床验证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🙏 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DFF"/>
                </a:solidFill>
              </a:defRPr>
            </a:pPr>
            <a:r>
              <a:t>ECG-Agent-DualTrack  |  AI Agent 课程大作业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</a:defRPr>
            </a:pPr>
            <a:r>
              <a:t>📂 GitHub  |  📄 ARCHITECTURE.md  |  📝 FINAL_REPORT.md  |  🌐 Demo: localhost:7860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